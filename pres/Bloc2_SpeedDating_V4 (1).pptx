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spPr>
            <a:solidFill>
              <a:srgbClr val="FF4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Yes rate
Hommes</c:v>
                  </c:pt>
                  <c:pt idx="1">
                    <c:v>Yes rate
Femmes</c:v>
                  </c:pt>
                  <c:pt idx="2">
                    <c:v>Match mutuel
Hommes</c:v>
                  </c:pt>
                  <c:pt idx="3">
                    <c:v>Match mutuel
Femmes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47.4</c:v>
                </c:pt>
                <c:pt idx="1">
                  <c:v>36.5</c:v>
                </c:pt>
                <c:pt idx="2">
                  <c:v>16.5</c:v>
                </c:pt>
                <c:pt idx="3">
                  <c:v>16.5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avec match</c:v>
                </c:pt>
              </c:strCache>
            </c:strRef>
          </c:tx>
          <c:spPr>
            <a:solidFill>
              <a:srgbClr val="FF4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like (appréciation globale)</c:v>
                  </c:pt>
                  <c:pt idx="1">
                    <c:v>prob (proba perçue)</c:v>
                  </c:pt>
                  <c:pt idx="2">
                    <c:v>fun (plaisir échange)</c:v>
                  </c:pt>
                  <c:pt idx="3">
                    <c:v>shar (intérêts partagés)</c:v>
                  </c:pt>
                  <c:pt idx="4">
                    <c:v>attr (attractivité)</c:v>
                  </c:pt>
                  <c:pt idx="5">
                    <c:v>sinc (sincérité)</c:v>
                  </c:pt>
                  <c:pt idx="6">
                    <c:v>intel (intelligence)</c:v>
                  </c:pt>
                  <c:pt idx="7">
                    <c:v>amb (ambition)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0.45</c:v>
                </c:pt>
                <c:pt idx="1">
                  <c:v>0.42</c:v>
                </c:pt>
                <c:pt idx="2">
                  <c:v>0.38</c:v>
                </c:pt>
                <c:pt idx="3">
                  <c:v>0.35</c:v>
                </c:pt>
                <c:pt idx="4">
                  <c:v>0.32</c:v>
                </c:pt>
                <c:pt idx="5">
                  <c:v>0.18</c:v>
                </c:pt>
                <c:pt idx="6">
                  <c:v>0.16</c:v>
                </c:pt>
                <c:pt idx="7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</c:scaling>
        <c:delete val="0"/>
        <c:axPos val="b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949E"/>
                </a:solidFill>
                <a:latin typeface="Arial"/>
              </a:rPr>
              <a:t>Effet samerace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match (%)</c:v>
                </c:pt>
              </c:strCache>
            </c:strRef>
          </c:tx>
          <c:spPr>
            <a:solidFill>
              <a:srgbClr val="2126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26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Race différente</c:v>
                  </c:pt>
                  <c:pt idx="1">
                    <c:v>Même race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16.2</c:v>
                </c:pt>
                <c:pt idx="1">
                  <c:v>17.1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949E"/>
                </a:solidFill>
                <a:latin typeface="Arial"/>
              </a:rPr>
              <a:t>Effet intérêts partagés (shar)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match (%)</c:v>
                </c:pt>
              </c:strCache>
            </c:strRef>
          </c:tx>
          <c:spPr>
            <a:solidFill>
              <a:srgbClr val="303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36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shar très bas
[0–3]</c:v>
                  </c:pt>
                  <c:pt idx="1">
                    <c:v>shar bas-moyen
[3–5]</c:v>
                  </c:pt>
                  <c:pt idx="2">
                    <c:v>shar moyen-haut
[5–7]</c:v>
                  </c:pt>
                  <c:pt idx="3">
                    <c:v>shar très haut
[7–10]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avec match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attr seul</c:v>
                  </c:pt>
                  <c:pt idx="1">
                    <c:v>like + fun + shar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0.32</c:v>
                </c:pt>
                <c:pt idx="1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attendu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Femmes</c:v>
                  </c:pt>
                  <c:pt idx="1">
                    <c:v>Hommes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Taux réel (%)</c:v>
                </c:pt>
              </c:strCache>
            </c:strRef>
          </c:tx>
          <c:spPr>
            <a:solidFill>
              <a:srgbClr val="FF4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Femmes</c:v>
                  </c:pt>
                  <c:pt idx="1">
                    <c:v>Hommes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16.5</c:v>
                </c:pt>
                <c:pt idx="1">
                  <c:v>16.5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moyen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4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Modèle A
Profil seul</c:v>
                  </c:pt>
                  <c:pt idx="1">
                    <c:v>Modèle B
Impressions du date</c:v>
                  </c:pt>
                  <c:pt idx="2">
                    <c:v>Modèle C
Profil + Date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0.82</c:v>
                </c:pt>
                <c:pt idx="2">
                  <c:v>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1A2D4A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286000"/>
            <a:ext cx="1828800" cy="1828800"/>
          </a:xfrm>
          <a:prstGeom prst="ellipse">
            <a:avLst/>
          </a:prstGeom>
          <a:solidFill>
            <a:srgbClr val="FF4B6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457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déterminants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0241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match mutuel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5564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Speed Dating · JEDHA Bootcamp — Bloc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176272"/>
            <a:ext cx="3200400" cy="36576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4 184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1448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dates uniques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54296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54296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67144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67144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337560"/>
            <a:ext cx="868680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337560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364992"/>
            <a:ext cx="84124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augmentent réellement la probabilité qu'un rendez-vous débouche sur un intérêt réciproque 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" y="43708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Birane WANE  ·  Lecture orientée produit — Application de rencontre type Tinder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méthode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772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Point clé 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rendez-vous apparaît </a:t>
            </a:r>
            <a:pPr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fois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(une ligne par participant) — à prendre en compte avant toute lecture des KPI.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d'analyse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828800"/>
            <a:ext cx="530352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828800"/>
            <a:ext cx="64008" cy="56692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836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139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: 8 378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984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dec — décision individuelle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87168"/>
            <a:ext cx="530352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487168"/>
            <a:ext cx="64008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980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: 551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642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taux moyen de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145536"/>
            <a:ext cx="530352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145536"/>
            <a:ext cx="64008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200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: 4 184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3009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match — réciprocité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444752"/>
            <a:ext cx="3154680" cy="33101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70448" y="15361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méthode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70448" y="1920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 · numpy · matplotlib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24231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 — modélisation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2926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GroupShuffleSplit — split par iid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429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Régression logistique + permutation importance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70448" y="3931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Normalisation poids relatif (préférences)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4480560"/>
            <a:ext cx="3154680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5806440" y="449884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speed dating expérimental 2002–2004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positive vs match mutuel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749808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49808"/>
            <a:ext cx="3154680" cy="960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49808"/>
            <a:ext cx="64008" cy="96012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804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47,4 %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897880" y="11704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rate Hommes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0" y="13898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 oui +30% plus souvent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865376"/>
            <a:ext cx="3154680" cy="960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865376"/>
            <a:ext cx="64008" cy="96012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1920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36,5 %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897880" y="2286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rate Femmes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50545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sélectives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980944"/>
            <a:ext cx="3154680" cy="960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980944"/>
            <a:ext cx="64008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3035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16,5 %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97880" y="34015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mutuel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6210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chez les deux genres !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4206240"/>
            <a:ext cx="8686800" cy="749808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4206240"/>
            <a:ext cx="64008" cy="74980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" y="4233672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 produit 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"oui" individuels ne produit pas plus de matches. La métrique à optimiser = la </a:t>
            </a:r>
            <a:pPr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réciprocité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le volume de likes.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pendant l'échange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des notes du date avec le match mutuel — variables classées par force de signal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6012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960120"/>
            <a:ext cx="342900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960120"/>
            <a:ext cx="64008" cy="86868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10149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10149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23560" y="13990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le plus fort — appréciation globale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965960"/>
            <a:ext cx="342900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965960"/>
            <a:ext cx="64008" cy="86868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20208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020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23560" y="24048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que l'autre dira oui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2971800"/>
            <a:ext cx="342900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297180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30266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0266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0.38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23560" y="341071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Plaisir de l'échange perçu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3977640"/>
            <a:ext cx="342900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397764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0"/>
          <p:cNvSpPr/>
          <p:nvPr/>
        </p:nvSpPr>
        <p:spPr>
          <a:xfrm>
            <a:off x="5623560" y="40325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0" y="40325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23560" y="44165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partagés perçus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Préférences déclarées vs comportement observé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8346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877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Ce qu'ils disent vouloir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21615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l'événement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" y="1554480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≈ 25 %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029968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75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 ≈ 20 %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2505456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51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≈ 20 %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2980944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≈ 15 %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" y="3456432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502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partagés ≈ 10 %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749808"/>
            <a:ext cx="283464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749808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877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Réévaluation a posteriori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121615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l'événement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554480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↑ monte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2029968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075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↑ monte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2505456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551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 ↓ baisse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2980944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↓ baisse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64408" y="3456432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502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Biais déclaratif fort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749808"/>
            <a:ext cx="283464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749808"/>
            <a:ext cx="2834640" cy="54864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87782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Dans les données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0488" y="121615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prédit vraiment dec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0488" y="1554480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— r ≈ 0.45 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0488" y="2029968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075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— r ≈ 0.38 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0488" y="2505456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551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 — r ≈ 0.35 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0488" y="2980944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— r ≈ 0.32 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0488" y="3456432"/>
            <a:ext cx="260604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3502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 — r ≈ 0.18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07792" y="242316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833872" y="242316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608576"/>
            <a:ext cx="8503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Préférences normalisées en poids relatif — les vagues utilisent des échelles différentes (100 pts vs 1–10)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partagés vs similarité démographique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749808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931920" y="749808"/>
          <a:ext cx="4983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28600" y="2907792"/>
            <a:ext cx="429768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28600" y="2907792"/>
            <a:ext cx="64008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29809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race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3273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: +5 %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" y="36027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démographique quasi nul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63440" y="2907792"/>
            <a:ext cx="429768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2907792"/>
            <a:ext cx="64008" cy="114300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3" name="Text 9"/>
          <p:cNvSpPr/>
          <p:nvPr/>
        </p:nvSpPr>
        <p:spPr>
          <a:xfrm>
            <a:off x="4800600" y="29809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partagés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3273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: ×6,8 🚀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36027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 → 34 % de match — gradient massif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4187952"/>
            <a:ext cx="64008" cy="74980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8" name="Text 14"/>
          <p:cNvSpPr/>
          <p:nvPr/>
        </p:nvSpPr>
        <p:spPr>
          <a:xfrm>
            <a:off x="384048" y="421538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Produit :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 sur la similarité démographique est </a:t>
            </a:r>
            <a:pPr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moins efficace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matcher sur des compatibilités relationnelles concrètes.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&amp; calibration des participants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seule suffit-elle ?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97280"/>
          <a:ext cx="4389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154680"/>
            <a:ext cx="43891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318211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L'attractivité est nécessaire mais non suffisante. Le fun et l'appréciation globale ont une corrélation comparable ou supérieure.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7498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participants anticipent-ils leur succès ?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46320" y="1097280"/>
          <a:ext cx="4069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3154680"/>
            <a:ext cx="4069080" cy="4754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46320" y="3154680"/>
            <a:ext cx="64008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4983480" y="3209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Lucidité partielle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0" y="32095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0.35–0.42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46320" y="3721608"/>
            <a:ext cx="4069080" cy="4754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3721608"/>
            <a:ext cx="64008" cy="47548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6" name="Text 12"/>
          <p:cNvSpPr/>
          <p:nvPr/>
        </p:nvSpPr>
        <p:spPr>
          <a:xfrm>
            <a:off x="4983480" y="3776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surestimation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0" y="3776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à +12 pp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Text 15"/>
          <p:cNvSpPr/>
          <p:nvPr/>
        </p:nvSpPr>
        <p:spPr>
          <a:xfrm>
            <a:off x="320040" y="4700016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contexte (ordre de passage, écart d'âge) : effets faibles à modérés — non dominants face aux signaux d'interaction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profil seul vs impressions du date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40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· GroupShuffleSplit (split par participant iid, pas par ligne)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8686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868680"/>
            <a:ext cx="3429000" cy="89611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868680"/>
            <a:ext cx="64008" cy="89611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9235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A — Profil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52360" y="92354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23560" y="12710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âge, centres d'intérêt, samerace, ordre…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1892808"/>
            <a:ext cx="3429000" cy="89611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892808"/>
            <a:ext cx="64008" cy="896112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1947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 — Impressions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52360" y="19476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23560" y="22951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attr, fun, shar, like, prob, sinc, intel, amb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2916936"/>
            <a:ext cx="3429000" cy="89611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2916936"/>
            <a:ext cx="64008" cy="8961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 — Combiné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52360" y="29718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23560" y="331927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— gain marginal vs B seul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3950208"/>
            <a:ext cx="3429000" cy="100584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3986784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GroupShuffleSplit ?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iid apparaît N fois. Un split classique = fuite de données. GroupShuffleSplit garantit qu'un participant est entièrement en train OU en test.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4041648"/>
            <a:ext cx="5029200" cy="868680"/>
          </a:xfrm>
          <a:prstGeom prst="rect">
            <a:avLst/>
          </a:prstGeom>
          <a:solidFill>
            <a:srgbClr val="1A0D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4041648"/>
            <a:ext cx="64008" cy="86868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" y="4078224"/>
            <a:ext cx="47548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modeling :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seul prédit très mal (AUC ≈ 0.55). Les impressions du date expliquent presque tout (AUC ≈ 0.82). Combiner les deux n'apporte qu'un gain marginal.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produit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3438144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" y="77724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794760" y="749808"/>
            <a:ext cx="1152144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3867912" y="777240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749808"/>
            <a:ext cx="1152144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5148072" y="777240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749808"/>
            <a:ext cx="2505456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77724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143000"/>
            <a:ext cx="8686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1143000"/>
            <a:ext cx="64008" cy="38404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188720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fun, prob — interaction perçue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118872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18872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Post-interaction — non dispo ex-ante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591056"/>
            <a:ext cx="868680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" y="1591056"/>
            <a:ext cx="64008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636776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 — intérêts partagés perçus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1636776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636776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Partiel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63677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Partiellement utilisable ex-ante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039112"/>
            <a:ext cx="8686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2039112"/>
            <a:ext cx="6400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084832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— attractivité perçue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08483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08483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0848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 ex-ante (photos)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487168"/>
            <a:ext cx="868680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" y="2487168"/>
            <a:ext cx="64008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532888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samerace — même race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253288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253288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5328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+5 % seulement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2935224"/>
            <a:ext cx="86868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935224"/>
            <a:ext cx="64008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98094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ordre, âge — variables de contexte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94760" y="2980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Faible-modéré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2980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298094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dominant face aux signaux d'interaction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383280"/>
            <a:ext cx="868680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3383280"/>
            <a:ext cx="64008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429000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seul (âge, intérêts décl.)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94760" y="342900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faible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342900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Limité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34290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0.55 — peu discriminant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" y="3886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recommandations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" y="4224528"/>
            <a:ext cx="276148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Shape 48"/>
          <p:cNvSpPr/>
          <p:nvPr/>
        </p:nvSpPr>
        <p:spPr>
          <a:xfrm>
            <a:off x="228600" y="4224528"/>
            <a:ext cx="274320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6072" y="427939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surinvestir les variables démographiques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154680" y="4224528"/>
            <a:ext cx="276148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4" name="Shape 52"/>
          <p:cNvSpPr/>
          <p:nvPr/>
        </p:nvSpPr>
        <p:spPr>
          <a:xfrm>
            <a:off x="3154680" y="4224528"/>
            <a:ext cx="27432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5" name="Text 53"/>
          <p:cNvSpPr/>
          <p:nvPr/>
        </p:nvSpPr>
        <p:spPr>
          <a:xfrm>
            <a:off x="3154680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502152" y="427939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signaux de compatibilité concrète (shar, fun, like)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80760" y="4224528"/>
            <a:ext cx="276148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Shape 56"/>
          <p:cNvSpPr/>
          <p:nvPr/>
        </p:nvSpPr>
        <p:spPr>
          <a:xfrm>
            <a:off x="6080760" y="4224528"/>
            <a:ext cx="27432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9" name="Text 57"/>
          <p:cNvSpPr/>
          <p:nvPr/>
        </p:nvSpPr>
        <p:spPr>
          <a:xfrm>
            <a:off x="6080760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428232" y="427939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profil comme prior faible uniquement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718304"/>
            <a:ext cx="417880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2" name="Shape 60"/>
          <p:cNvSpPr/>
          <p:nvPr/>
        </p:nvSpPr>
        <p:spPr>
          <a:xfrm>
            <a:off x="228600" y="4718304"/>
            <a:ext cx="27432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Text 61"/>
          <p:cNvSpPr/>
          <p:nvPr/>
        </p:nvSpPr>
        <p:spPr>
          <a:xfrm>
            <a:off x="228600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76072" y="4773168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expériences qui génèrent du fun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54680" y="4718304"/>
            <a:ext cx="417880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6" name="Shape 64"/>
          <p:cNvSpPr/>
          <p:nvPr/>
        </p:nvSpPr>
        <p:spPr>
          <a:xfrm>
            <a:off x="3154680" y="4718304"/>
            <a:ext cx="274320" cy="38404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67" name="Text 65"/>
          <p:cNvSpPr/>
          <p:nvPr/>
        </p:nvSpPr>
        <p:spPr>
          <a:xfrm>
            <a:off x="3154680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502152" y="4773168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réciprocité, pas le volume de likes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41648"/>
            <a:ext cx="9144000" cy="11018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 🎯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0" y="2395728"/>
            <a:ext cx="3657600" cy="36576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78608"/>
            <a:ext cx="8229600" cy="129844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78608"/>
            <a:ext cx="64008" cy="1298448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633472"/>
            <a:ext cx="7955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match ne se résume pas au profil.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meilleurs signaux viennent de la qualité perçue de l'échange : </a:t>
            </a:r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fun, intérêts partagés, attractivité.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appli de rencontre, la valeur est de favoriser des interactions qui peuvent devenir réciproques.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Bloc 2 — Speed Dating · JEDHA Bootcamp · Birane WANE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github.com/BiraneWANE/speed-dating-tinder-analysis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33088"/>
            <a:ext cx="1993392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33088"/>
            <a:ext cx="1993392" cy="4572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599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analysées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4133088"/>
            <a:ext cx="1993392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4133088"/>
            <a:ext cx="1993392" cy="4572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4206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16,5 %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4599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mutuel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133088"/>
            <a:ext cx="1993392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4133088"/>
            <a:ext cx="1993392" cy="4572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206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×6,8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63440" y="4599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intérêts partagés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4133088"/>
            <a:ext cx="1993392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4133088"/>
            <a:ext cx="1993392" cy="45720"/>
          </a:xfrm>
          <a:prstGeom prst="rect">
            <a:avLst/>
          </a:prstGeom>
          <a:solidFill>
            <a:srgbClr val="FF4B6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206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4599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impressions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2026-05-19T10:17:18Z</dcterms:created>
  <dcterms:modified xsi:type="dcterms:W3CDTF">2026-05-19T10:17:18Z</dcterms:modified>
</cp:coreProperties>
</file>